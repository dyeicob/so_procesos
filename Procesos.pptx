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34287-06D5-289F-0B56-E231BDDE82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Procesos</a:t>
            </a:r>
          </a:p>
        </p:txBody>
      </p:sp>
    </p:spTree>
    <p:extLst>
      <p:ext uri="{BB962C8B-B14F-4D97-AF65-F5344CB8AC3E}">
        <p14:creationId xmlns:p14="http://schemas.microsoft.com/office/powerpoint/2010/main" val="239054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301DC-AF37-8A76-33E4-1DE6BDCF1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 proceso?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EDBD22-BEBE-303A-E66F-832AF3E52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s-ES" dirty="0"/>
              <a:t>Un </a:t>
            </a:r>
            <a:r>
              <a:rPr lang="es-ES" b="1" dirty="0"/>
              <a:t>proceso</a:t>
            </a:r>
            <a:r>
              <a:rPr lang="es-ES" dirty="0"/>
              <a:t> es básicamente un </a:t>
            </a:r>
            <a:r>
              <a:rPr lang="es-ES" b="1" dirty="0"/>
              <a:t>programa en ejecución</a:t>
            </a:r>
            <a:r>
              <a:rPr lang="es-ES" dirty="0"/>
              <a:t>. Es una instancia activa de un programa que tiene su propio espacio de memoria, sus registros y sus recursos asignados.</a:t>
            </a:r>
          </a:p>
          <a:p>
            <a:pPr algn="just"/>
            <a:r>
              <a:rPr lang="es-ES" dirty="0"/>
              <a:t>Por ejemplo, cuando abrimos dos veces el Bloc de notas, el sistema crea </a:t>
            </a:r>
            <a:r>
              <a:rPr lang="es-ES" b="1" dirty="0"/>
              <a:t>dos procesos distintos</a:t>
            </a:r>
            <a:r>
              <a:rPr lang="es-ES" dirty="0"/>
              <a:t>, aunque ejecuten el mismo programa.</a:t>
            </a:r>
          </a:p>
          <a:p>
            <a:pPr algn="just"/>
            <a:r>
              <a:rPr lang="es-ES" dirty="0"/>
              <a:t>Un </a:t>
            </a:r>
            <a:r>
              <a:rPr lang="es-ES" b="1" dirty="0"/>
              <a:t>hilo</a:t>
            </a:r>
            <a:r>
              <a:rPr lang="es-ES" dirty="0"/>
              <a:t> o </a:t>
            </a:r>
            <a:r>
              <a:rPr lang="es-ES" i="1" dirty="0" err="1"/>
              <a:t>thread</a:t>
            </a:r>
            <a:r>
              <a:rPr lang="es-ES" dirty="0"/>
              <a:t>, en cambio, es una </a:t>
            </a:r>
            <a:r>
              <a:rPr lang="es-ES" b="1" dirty="0"/>
              <a:t>unidad más pequeña dentro de un proceso</a:t>
            </a:r>
            <a:r>
              <a:rPr lang="es-ES" dirty="0"/>
              <a:t>. Todos los hilos de un proceso comparten el mismo espacio de memoria y los mismos recursos, pero cada hilo tiene su propio contador de programa y su propia pila.</a:t>
            </a:r>
          </a:p>
          <a:p>
            <a:pPr algn="just"/>
            <a:r>
              <a:rPr lang="es-ES" dirty="0"/>
              <a:t>La ventaja de los hilos es que permiten que un programa realice varias tareas a la vez. Por ejemplo, un navegador web puede tener un hilo para la interfaz, otro para las descargas y otro para reproducir videos.</a:t>
            </a:r>
          </a:p>
        </p:txBody>
      </p:sp>
    </p:spTree>
    <p:extLst>
      <p:ext uri="{BB962C8B-B14F-4D97-AF65-F5344CB8AC3E}">
        <p14:creationId xmlns:p14="http://schemas.microsoft.com/office/powerpoint/2010/main" val="225088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B3B72-35FB-CF01-E930-B8EB51741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Process</a:t>
            </a:r>
            <a:r>
              <a:rPr lang="es-ES" dirty="0"/>
              <a:t> Control Block(PCB)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B8175D-583E-6566-FD14-EB5647D57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8340213" cy="3989995"/>
          </a:xfrm>
        </p:spPr>
        <p:txBody>
          <a:bodyPr numCol="1"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ES" sz="2000" dirty="0"/>
              <a:t>El PCB es una estructura que contiene toda la información necesaria para que el sistema pueda </a:t>
            </a:r>
            <a:r>
              <a:rPr lang="es-ES" sz="2000" b="1" dirty="0"/>
              <a:t>detener y reanudar</a:t>
            </a:r>
            <a:r>
              <a:rPr lang="es-ES" sz="2000" dirty="0"/>
              <a:t> un proceso en cualquier momento. Entre los datos que guarda están:</a:t>
            </a:r>
          </a:p>
          <a:p>
            <a:pPr marL="144000" algn="just">
              <a:lnSpc>
                <a:spcPct val="100000"/>
              </a:lnSpc>
              <a:spcBef>
                <a:spcPts val="0"/>
              </a:spcBef>
            </a:pPr>
            <a:r>
              <a:rPr lang="es-ES" sz="2000" dirty="0"/>
              <a:t>El identificador del proceso (PID)</a:t>
            </a:r>
          </a:p>
          <a:p>
            <a:pPr marL="144000" algn="just">
              <a:lnSpc>
                <a:spcPct val="100000"/>
              </a:lnSpc>
              <a:spcBef>
                <a:spcPts val="0"/>
              </a:spcBef>
            </a:pPr>
            <a:r>
              <a:rPr lang="es-ES" sz="2000" dirty="0"/>
              <a:t>El estado (ejecutando, listo, bloqueado)</a:t>
            </a:r>
          </a:p>
          <a:p>
            <a:pPr marL="144000" algn="just">
              <a:lnSpc>
                <a:spcPct val="100000"/>
              </a:lnSpc>
              <a:spcBef>
                <a:spcPts val="0"/>
              </a:spcBef>
            </a:pPr>
            <a:r>
              <a:rPr lang="es-ES" sz="2000" dirty="0"/>
              <a:t>Los registros de la CPU</a:t>
            </a:r>
          </a:p>
          <a:p>
            <a:pPr marL="144000" algn="just">
              <a:lnSpc>
                <a:spcPct val="100000"/>
              </a:lnSpc>
              <a:spcBef>
                <a:spcPts val="0"/>
              </a:spcBef>
            </a:pPr>
            <a:r>
              <a:rPr lang="es-ES" sz="2000" dirty="0"/>
              <a:t>El contador de programa (la próxima instrucción a ejecutar)</a:t>
            </a:r>
          </a:p>
          <a:p>
            <a:pPr marL="144000" algn="just">
              <a:lnSpc>
                <a:spcPct val="100000"/>
              </a:lnSpc>
              <a:spcBef>
                <a:spcPts val="0"/>
              </a:spcBef>
            </a:pPr>
            <a:r>
              <a:rPr lang="es-ES" sz="2000" dirty="0"/>
              <a:t>Los punteros a la memoria del proceso</a:t>
            </a:r>
          </a:p>
          <a:p>
            <a:pPr marL="144000" algn="just">
              <a:lnSpc>
                <a:spcPct val="100000"/>
              </a:lnSpc>
              <a:spcBef>
                <a:spcPts val="0"/>
              </a:spcBef>
            </a:pPr>
            <a:r>
              <a:rPr lang="es-ES" sz="2000" dirty="0"/>
              <a:t>Los archivos abiertos</a:t>
            </a:r>
          </a:p>
          <a:p>
            <a:pPr marL="0" indent="0" algn="just">
              <a:buNone/>
            </a:pPr>
            <a:r>
              <a:rPr lang="es-ES" sz="2000" dirty="0"/>
              <a:t>Toda esta información forma lo que se llama el </a:t>
            </a:r>
            <a:r>
              <a:rPr lang="es-ES" sz="2000" b="1" dirty="0"/>
              <a:t>contexto del proceso</a:t>
            </a:r>
            <a:r>
              <a:rPr lang="es-ES" sz="2000" dirty="0"/>
              <a:t>, que es como una “fotografía” de su estado en un momento determinado. Cuando el sistema operativo cambia de un proceso a otro, guarda el contexto del proceso actual en su PCB, y luego carga el contexto del siguiente proceso.</a:t>
            </a:r>
          </a:p>
        </p:txBody>
      </p:sp>
    </p:spTree>
    <p:extLst>
      <p:ext uri="{BB962C8B-B14F-4D97-AF65-F5344CB8AC3E}">
        <p14:creationId xmlns:p14="http://schemas.microsoft.com/office/powerpoint/2010/main" val="1309910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73627-FC56-ACC4-7CE5-53820F55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de procesos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8D8E69-D5DE-9566-7F16-19B0BB7C8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s-ES" dirty="0"/>
              <a:t>Cuando un sistema operativo se inicia, el </a:t>
            </a:r>
            <a:r>
              <a:rPr lang="es-ES" dirty="0" err="1"/>
              <a:t>kernel</a:t>
            </a:r>
            <a:r>
              <a:rPr lang="es-ES" dirty="0"/>
              <a:t> crea el </a:t>
            </a:r>
            <a:r>
              <a:rPr lang="es-ES" b="1" dirty="0"/>
              <a:t>primer proceso</a:t>
            </a:r>
            <a:r>
              <a:rPr lang="es-ES" dirty="0"/>
              <a:t>, que suele llamarse </a:t>
            </a:r>
            <a:r>
              <a:rPr lang="es-ES" i="1" dirty="0" err="1"/>
              <a:t>init</a:t>
            </a:r>
            <a:r>
              <a:rPr lang="es-ES" dirty="0"/>
              <a:t> (en Linux tiene el PID 1). Este proceso es el “padre” de todos los demás.</a:t>
            </a:r>
          </a:p>
          <a:p>
            <a:pPr algn="just"/>
            <a:r>
              <a:rPr lang="es-ES" dirty="0"/>
              <a:t>A partir de ahí, los nuevos procesos se crean usando la llamada al sistema </a:t>
            </a:r>
            <a:r>
              <a:rPr lang="es-ES" b="1" dirty="0" err="1"/>
              <a:t>fork</a:t>
            </a:r>
            <a:r>
              <a:rPr lang="es-ES" b="1" dirty="0"/>
              <a:t>()</a:t>
            </a:r>
            <a:r>
              <a:rPr lang="es-ES" dirty="0"/>
              <a:t>.</a:t>
            </a:r>
          </a:p>
          <a:p>
            <a:pPr algn="just"/>
            <a:r>
              <a:rPr lang="es-ES" dirty="0" err="1"/>
              <a:t>fork</a:t>
            </a:r>
            <a:r>
              <a:rPr lang="es-ES" dirty="0"/>
              <a:t>() crea una </a:t>
            </a:r>
            <a:r>
              <a:rPr lang="es-ES" b="1" dirty="0"/>
              <a:t>copia exacta del proceso actual</a:t>
            </a:r>
            <a:r>
              <a:rPr lang="es-ES" dirty="0"/>
              <a:t>, incluyendo su memoria, sus registros y su contexto. El proceso original es el </a:t>
            </a:r>
            <a:r>
              <a:rPr lang="es-ES" b="1" dirty="0"/>
              <a:t>padre</a:t>
            </a:r>
            <a:r>
              <a:rPr lang="es-ES" dirty="0"/>
              <a:t>, y la copia es el </a:t>
            </a:r>
            <a:r>
              <a:rPr lang="es-ES" b="1" dirty="0"/>
              <a:t>hijo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Después de crear el hijo, normalmente se usa la llamada </a:t>
            </a:r>
            <a:r>
              <a:rPr lang="es-ES" b="1" dirty="0" err="1"/>
              <a:t>exec</a:t>
            </a:r>
            <a:r>
              <a:rPr lang="es-ES" b="1" dirty="0"/>
              <a:t>()</a:t>
            </a:r>
            <a:r>
              <a:rPr lang="es-ES" dirty="0"/>
              <a:t> para reemplazar el contenido del proceso hijo con un nuevo programa.</a:t>
            </a:r>
          </a:p>
          <a:p>
            <a:pPr algn="just"/>
            <a:r>
              <a:rPr lang="es-ES" dirty="0"/>
              <a:t>Por ejemplo, si un proceso quiere ejecutar el comando </a:t>
            </a:r>
            <a:r>
              <a:rPr lang="es-ES" dirty="0" err="1"/>
              <a:t>ls</a:t>
            </a:r>
            <a:r>
              <a:rPr lang="es-ES" dirty="0"/>
              <a:t>, primero hace </a:t>
            </a:r>
            <a:r>
              <a:rPr lang="es-ES" dirty="0" err="1"/>
              <a:t>fork</a:t>
            </a:r>
            <a:r>
              <a:rPr lang="es-ES" dirty="0"/>
              <a:t>() para crear un hijo, y luego ese hijo llama a </a:t>
            </a:r>
            <a:r>
              <a:rPr lang="es-ES" dirty="0" err="1"/>
              <a:t>exec</a:t>
            </a:r>
            <a:r>
              <a:rPr lang="es-ES" dirty="0"/>
              <a:t>() para cargar el binario de </a:t>
            </a:r>
            <a:r>
              <a:rPr lang="es-ES" dirty="0" err="1"/>
              <a:t>ls</a:t>
            </a:r>
            <a:r>
              <a:rPr lang="es-ES" dirty="0"/>
              <a:t> y ejecutarlo.</a:t>
            </a:r>
          </a:p>
        </p:txBody>
      </p:sp>
    </p:spTree>
    <p:extLst>
      <p:ext uri="{BB962C8B-B14F-4D97-AF65-F5344CB8AC3E}">
        <p14:creationId xmlns:p14="http://schemas.microsoft.com/office/powerpoint/2010/main" val="2808178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0A326-ED29-5262-2325-C1AB1BE51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cambio de contexto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4DF6AE-0D98-2416-E938-E05ED1426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085799" cy="377148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ES" dirty="0"/>
              <a:t>En cuanto al </a:t>
            </a:r>
            <a:r>
              <a:rPr lang="es-ES" b="1" dirty="0"/>
              <a:t>cambio de contexto</a:t>
            </a:r>
            <a:r>
              <a:rPr lang="es-ES" dirty="0"/>
              <a:t>, esto ocurre cuando el procesador pasa de ejecutar un proceso a ejecutar otro.</a:t>
            </a:r>
          </a:p>
          <a:p>
            <a:pPr algn="just"/>
            <a:r>
              <a:rPr lang="es-ES" dirty="0"/>
              <a:t>En un sistema con un solo núcleo (como un x86), el sistema operativo: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dirty="0"/>
              <a:t>Guarda los registros y el contador de programa del proceso actual en su PCB.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dirty="0"/>
              <a:t>Elige el siguiente proceso a ejecutar.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dirty="0"/>
              <a:t>Carga los registros y el contador de programa del nuevo proceso desde su PCB.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dirty="0"/>
              <a:t>Retoma la ejecución en ese punto.</a:t>
            </a:r>
          </a:p>
          <a:p>
            <a:pPr algn="just"/>
            <a:r>
              <a:rPr lang="es-ES" dirty="0"/>
              <a:t>Este mecanismo permite que parezca que varios procesos se ejecutan al mismo tiempo, aunque en realidad el CPU va alternando entre ellos.</a:t>
            </a:r>
          </a:p>
        </p:txBody>
      </p:sp>
    </p:spTree>
    <p:extLst>
      <p:ext uri="{BB962C8B-B14F-4D97-AF65-F5344CB8AC3E}">
        <p14:creationId xmlns:p14="http://schemas.microsoft.com/office/powerpoint/2010/main" val="1895741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0AE6A-C7D1-F207-6CE6-CB2E0EB8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Planificación Round Robin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1DB7D-2FEC-C1FE-9A24-BA9CC1A37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s-ES" dirty="0"/>
              <a:t>Uno de los algoritmos más conocidos es el </a:t>
            </a:r>
            <a:r>
              <a:rPr lang="es-ES" b="1" dirty="0"/>
              <a:t>Round Robin</a:t>
            </a:r>
            <a:r>
              <a:rPr lang="es-ES" dirty="0"/>
              <a:t>. En este método, cada proceso recibe un pequeño intervalo de tiempo de CPU llamado </a:t>
            </a:r>
            <a:r>
              <a:rPr lang="es-ES" i="1" dirty="0"/>
              <a:t>quantum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Cuando se le acaba el tiempo, el sistema guarda su contexto y pasa al siguiente proceso.</a:t>
            </a:r>
          </a:p>
          <a:p>
            <a:pPr algn="just"/>
            <a:r>
              <a:rPr lang="es-ES" dirty="0"/>
              <a:t>Esto garantiza que todos tengan una oportunidad, pero también tiene problemas: si el </a:t>
            </a:r>
            <a:r>
              <a:rPr lang="es-ES" i="1" dirty="0"/>
              <a:t>quantum</a:t>
            </a:r>
            <a:r>
              <a:rPr lang="es-ES" dirty="0"/>
              <a:t> es muy corto, hay demasiados cambios de contexto; si es muy largo, algunos procesos pueden quedarse esperando demasiado.</a:t>
            </a:r>
          </a:p>
          <a:p>
            <a:pPr algn="just"/>
            <a:r>
              <a:rPr lang="es-ES" dirty="0"/>
              <a:t>Cuando un proceso necesita un recurso que no está disponible, como un archivo o una entrada de usuario, pasa al estado </a:t>
            </a:r>
            <a:r>
              <a:rPr lang="es-ES" b="1" dirty="0"/>
              <a:t>bloqueado</a:t>
            </a:r>
            <a:r>
              <a:rPr lang="es-ES" dirty="0"/>
              <a:t> y espera hasta que el recurso esté libre.</a:t>
            </a:r>
          </a:p>
        </p:txBody>
      </p:sp>
    </p:spTree>
    <p:extLst>
      <p:ext uri="{BB962C8B-B14F-4D97-AF65-F5344CB8AC3E}">
        <p14:creationId xmlns:p14="http://schemas.microsoft.com/office/powerpoint/2010/main" val="3410964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9A364-3CC8-F862-15AA-88970E5B9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72754-E240-1630-C1C5-0FBAA573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 </a:t>
            </a:r>
            <a:r>
              <a:rPr lang="es-ES" dirty="0" err="1"/>
              <a:t>Process</a:t>
            </a:r>
            <a:r>
              <a:rPr lang="es-ES" dirty="0"/>
              <a:t> </a:t>
            </a:r>
            <a:r>
              <a:rPr lang="es-ES" dirty="0" err="1"/>
              <a:t>Communication</a:t>
            </a:r>
            <a:r>
              <a:rPr lang="es-ES" dirty="0"/>
              <a:t> </a:t>
            </a:r>
            <a:r>
              <a:rPr lang="es-ES" i="1" dirty="0"/>
              <a:t>(</a:t>
            </a:r>
            <a:r>
              <a:rPr lang="es-ES" dirty="0"/>
              <a:t>IPC)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CC0DE4-1E7C-B6DC-9569-A8B37E382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9198342" cy="3541714"/>
          </a:xfrm>
        </p:spPr>
        <p:txBody>
          <a:bodyPr>
            <a:noAutofit/>
          </a:bodyPr>
          <a:lstStyle/>
          <a:p>
            <a:pPr algn="just"/>
            <a:r>
              <a:rPr lang="es-ES" sz="2000" dirty="0"/>
              <a:t>Para comunicarse entre sí, los procesos usan mecanismos de </a:t>
            </a:r>
            <a:r>
              <a:rPr lang="es-ES" sz="2000" b="1" dirty="0"/>
              <a:t>IPC</a:t>
            </a:r>
            <a:r>
              <a:rPr lang="es-ES" sz="2000" dirty="0"/>
              <a:t>, o </a:t>
            </a:r>
            <a:r>
              <a:rPr lang="es-ES" sz="2000" i="1" dirty="0"/>
              <a:t>Inter </a:t>
            </a:r>
            <a:r>
              <a:rPr lang="es-ES" sz="2000" i="1" dirty="0" err="1"/>
              <a:t>Process</a:t>
            </a:r>
            <a:r>
              <a:rPr lang="es-ES" sz="2000" i="1" dirty="0"/>
              <a:t> </a:t>
            </a:r>
            <a:r>
              <a:rPr lang="es-ES" sz="2000" i="1" dirty="0" err="1"/>
              <a:t>Communication</a:t>
            </a:r>
            <a:r>
              <a:rPr lang="es-ES" sz="2000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s-ES" sz="2000" dirty="0"/>
              <a:t>Los principales son:</a:t>
            </a:r>
          </a:p>
          <a:p>
            <a:pPr lvl="1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s-ES" i="1" dirty="0"/>
              <a:t>Pipes</a:t>
            </a:r>
            <a:r>
              <a:rPr lang="es-ES" dirty="0"/>
              <a:t> o tuberías</a:t>
            </a:r>
          </a:p>
          <a:p>
            <a:pPr lvl="1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s-ES" i="1" dirty="0" err="1"/>
              <a:t>Message</a:t>
            </a:r>
            <a:r>
              <a:rPr lang="es-ES" i="1" dirty="0"/>
              <a:t> </a:t>
            </a:r>
            <a:r>
              <a:rPr lang="es-ES" i="1" dirty="0" err="1"/>
              <a:t>Queues</a:t>
            </a:r>
            <a:r>
              <a:rPr lang="es-ES" dirty="0"/>
              <a:t> (colas de mensajes)</a:t>
            </a:r>
          </a:p>
          <a:p>
            <a:pPr lvl="1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s-ES" i="1" dirty="0" err="1"/>
              <a:t>Shared</a:t>
            </a:r>
            <a:r>
              <a:rPr lang="es-ES" i="1" dirty="0"/>
              <a:t> </a:t>
            </a:r>
            <a:r>
              <a:rPr lang="es-ES" i="1" dirty="0" err="1"/>
              <a:t>Memory</a:t>
            </a:r>
            <a:r>
              <a:rPr lang="es-ES" dirty="0"/>
              <a:t> (memoria compartida)</a:t>
            </a:r>
          </a:p>
          <a:p>
            <a:pPr lvl="1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s-ES" i="1" dirty="0" err="1"/>
              <a:t>Signals</a:t>
            </a:r>
            <a:r>
              <a:rPr lang="es-ES" dirty="0"/>
              <a:t> (señales)</a:t>
            </a:r>
          </a:p>
          <a:p>
            <a:pPr algn="just"/>
            <a:r>
              <a:rPr lang="es-ES" sz="2000" dirty="0"/>
              <a:t>Por ejemplo, un proceso puede enviar una señal a otro usando la función </a:t>
            </a:r>
            <a:r>
              <a:rPr lang="es-ES" sz="2000" dirty="0" err="1"/>
              <a:t>kill</a:t>
            </a:r>
            <a:r>
              <a:rPr lang="es-ES" sz="2000" dirty="0"/>
              <a:t> (</a:t>
            </a:r>
            <a:r>
              <a:rPr lang="es-ES" sz="2000" dirty="0" err="1"/>
              <a:t>pid</a:t>
            </a:r>
            <a:r>
              <a:rPr lang="es-ES" sz="2000" dirty="0"/>
              <a:t>, SIGUSR1), y el otro proceso puede capturarla con un </a:t>
            </a:r>
            <a:r>
              <a:rPr lang="es-ES" sz="2000" i="1" dirty="0" err="1"/>
              <a:t>handler</a:t>
            </a:r>
            <a:r>
              <a:rPr lang="es-ES" sz="2000" dirty="0"/>
              <a:t> definido con </a:t>
            </a:r>
            <a:r>
              <a:rPr lang="es-ES" sz="2000" dirty="0" err="1"/>
              <a:t>signal</a:t>
            </a:r>
            <a:r>
              <a:rPr lang="es-ES" sz="2000" dirty="0"/>
              <a:t>(SIGUSR1, </a:t>
            </a:r>
            <a:r>
              <a:rPr lang="es-ES" sz="2000" dirty="0" err="1"/>
              <a:t>handler</a:t>
            </a:r>
            <a:r>
              <a:rPr lang="es-ES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35669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A34BE-59BE-849B-FE5E-7506F541B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Señales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47CFFA-1AAB-6B9B-776E-B04ACF8A8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s-ES" dirty="0"/>
              <a:t>Las </a:t>
            </a:r>
            <a:r>
              <a:rPr lang="es-ES" b="1" dirty="0"/>
              <a:t>señales</a:t>
            </a:r>
            <a:r>
              <a:rPr lang="es-ES" dirty="0"/>
              <a:t> son mensajes que el sistema operativo o un proceso pueden enviar a otro para notificarle un evento.</a:t>
            </a:r>
          </a:p>
          <a:p>
            <a:pPr algn="just"/>
            <a:r>
              <a:rPr lang="es-ES" dirty="0"/>
              <a:t>Por ejemplo, SIGINT se envía cuando presionamos </a:t>
            </a:r>
            <a:r>
              <a:rPr lang="es-ES" i="1" dirty="0" err="1"/>
              <a:t>Ctrl</a:t>
            </a:r>
            <a:r>
              <a:rPr lang="es-ES" i="1" dirty="0"/>
              <a:t> + C</a:t>
            </a:r>
            <a:r>
              <a:rPr lang="es-ES" dirty="0"/>
              <a:t> para interrumpir un programa, o SIGCHLD cuando un proceso hijo termina.</a:t>
            </a:r>
          </a:p>
          <a:p>
            <a:pPr algn="just"/>
            <a:r>
              <a:rPr lang="es-ES" dirty="0"/>
              <a:t>Un proceso puede definir una función para manejar una señal, llamada </a:t>
            </a:r>
            <a:r>
              <a:rPr lang="es-ES" b="1" dirty="0"/>
              <a:t>manejador de señal</a:t>
            </a:r>
            <a:r>
              <a:rPr lang="es-ES" dirty="0"/>
              <a:t> (</a:t>
            </a:r>
            <a:r>
              <a:rPr lang="es-ES" i="1" dirty="0" err="1"/>
              <a:t>signal</a:t>
            </a:r>
            <a:r>
              <a:rPr lang="es-ES" i="1" dirty="0"/>
              <a:t> </a:t>
            </a:r>
            <a:r>
              <a:rPr lang="es-ES" i="1" dirty="0" err="1"/>
              <a:t>handler</a:t>
            </a:r>
            <a:r>
              <a:rPr lang="es-ES" dirty="0"/>
              <a:t>).</a:t>
            </a:r>
          </a:p>
          <a:p>
            <a:pPr algn="just"/>
            <a:r>
              <a:rPr lang="es-ES" dirty="0"/>
              <a:t>En el ejemplo que mostramos, si el proceso recibe SIGINT, ejecuta una función que muestra un mensaje en lugar de terminar.</a:t>
            </a:r>
          </a:p>
        </p:txBody>
      </p:sp>
    </p:spTree>
    <p:extLst>
      <p:ext uri="{BB962C8B-B14F-4D97-AF65-F5344CB8AC3E}">
        <p14:creationId xmlns:p14="http://schemas.microsoft.com/office/powerpoint/2010/main" val="2795216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3308D-570A-1F99-BFE1-B658B78A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C552F1-3BBE-1314-9063-1932B096B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deadlocks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541F59-F450-15BA-C9DB-15F302B94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 numCol="1">
            <a:normAutofit fontScale="92500" lnSpcReduction="20000"/>
          </a:bodyPr>
          <a:lstStyle/>
          <a:p>
            <a:pPr algn="just"/>
            <a:r>
              <a:rPr lang="es-ES" dirty="0"/>
              <a:t>Por otro lado, un </a:t>
            </a:r>
            <a:r>
              <a:rPr lang="es-ES" b="1" dirty="0" err="1"/>
              <a:t>deadlock</a:t>
            </a:r>
            <a:r>
              <a:rPr lang="es-ES" dirty="0"/>
              <a:t> ocurre cuando dos o más procesos quedan bloqueados esperando recursos que tiene el otro.</a:t>
            </a:r>
          </a:p>
          <a:p>
            <a:pPr algn="just"/>
            <a:r>
              <a:rPr lang="es-ES" dirty="0"/>
              <a:t>Por ejemplo: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dirty="0"/>
              <a:t>El proceso 1 tiene el recurso A y necesita el B.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dirty="0"/>
              <a:t>El proceso 2 tiene el recurso B y necesita el A.</a:t>
            </a:r>
          </a:p>
          <a:p>
            <a:pPr algn="just"/>
            <a:r>
              <a:rPr lang="es-ES" dirty="0"/>
              <a:t>Ninguno puede continuar, y ambos quedan bloqueados.</a:t>
            </a:r>
          </a:p>
          <a:p>
            <a:pPr algn="just"/>
            <a:r>
              <a:rPr lang="es-ES" dirty="0"/>
              <a:t>Para evitar esto, los sistemas operativos pueden: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dirty="0"/>
              <a:t>Evitar el </a:t>
            </a:r>
            <a:r>
              <a:rPr lang="es-ES" dirty="0" err="1"/>
              <a:t>deadlock</a:t>
            </a:r>
            <a:r>
              <a:rPr lang="es-ES" dirty="0"/>
              <a:t> ordenando el acceso a los recursos.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dirty="0"/>
              <a:t>Detectarlo y liberar procesos involucrados.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dirty="0"/>
              <a:t>O prevenirlo usando mecanismos como </a:t>
            </a:r>
            <a:r>
              <a:rPr lang="es-ES" i="1" dirty="0" err="1"/>
              <a:t>trylock</a:t>
            </a:r>
            <a:r>
              <a:rPr lang="es-ES" dirty="0"/>
              <a:t> o límites de tiempo.</a:t>
            </a:r>
          </a:p>
        </p:txBody>
      </p:sp>
    </p:spTree>
    <p:extLst>
      <p:ext uri="{BB962C8B-B14F-4D97-AF65-F5344CB8AC3E}">
        <p14:creationId xmlns:p14="http://schemas.microsoft.com/office/powerpoint/2010/main" val="262641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863ED-0C5A-07EF-89C6-753A678D3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C2B74-7A03-0B95-6930-248188F0C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2235200"/>
            <a:ext cx="8791575" cy="2387600"/>
          </a:xfrm>
        </p:spPr>
        <p:txBody>
          <a:bodyPr/>
          <a:lstStyle/>
          <a:p>
            <a:pPr algn="ctr"/>
            <a:r>
              <a:rPr lang="es-ES" dirty="0"/>
              <a:t>Preguntas</a:t>
            </a:r>
            <a:br>
              <a:rPr lang="es-ES" dirty="0"/>
            </a:br>
            <a:r>
              <a:rPr lang="es-ES" dirty="0"/>
              <a:t>Gracias por la atención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65925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{CE838181-710B-49E0-A219-67EFAA950EA8}TF6d5feb1e-e145-43f1-b745-cb4b54c5ee97494f94d6-c317f2461df2</Template>
  <TotalTime>69</TotalTime>
  <Words>948</Words>
  <Application>Microsoft Office PowerPoint</Application>
  <PresentationFormat>Panorámica</PresentationFormat>
  <Paragraphs>58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Tw Cen MT</vt:lpstr>
      <vt:lpstr>Circuito</vt:lpstr>
      <vt:lpstr>Procesos</vt:lpstr>
      <vt:lpstr>¿Qué es un proceso?</vt:lpstr>
      <vt:lpstr>Process Control Block(PCB)</vt:lpstr>
      <vt:lpstr>Creación de procesos</vt:lpstr>
      <vt:lpstr>cambio de contexto</vt:lpstr>
      <vt:lpstr>Planificación Round Robin</vt:lpstr>
      <vt:lpstr>Inter Process Communication (IPC)</vt:lpstr>
      <vt:lpstr>Señales</vt:lpstr>
      <vt:lpstr>deadlocks</vt:lpstr>
      <vt:lpstr>Preguntas Gracias por la atención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Raul Cañizo</dc:creator>
  <cp:lastModifiedBy>Raul Cañizo</cp:lastModifiedBy>
  <cp:revision>2</cp:revision>
  <dcterms:created xsi:type="dcterms:W3CDTF">2025-11-15T18:31:10Z</dcterms:created>
  <dcterms:modified xsi:type="dcterms:W3CDTF">2025-11-15T19:40:40Z</dcterms:modified>
</cp:coreProperties>
</file>